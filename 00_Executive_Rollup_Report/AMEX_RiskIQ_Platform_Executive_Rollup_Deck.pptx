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822960"/>
            <a:ext cx="110642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AMEX Enterprise Credit Risk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600200"/>
            <a:ext cx="110642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A227"/>
                </a:solidFill>
              </a:rPr>
              <a:t>Phase 5, Problem 14: Executive Decision Support Dashboard -- Platform-Wide Financial Impact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Generated: 2026-09-16 12:32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743200"/>
            <a:ext cx="11064240" cy="914400"/>
          </a:xfrm>
          <a:prstGeom prst="rect">
            <a:avLst/>
          </a:prstGeom>
          <a:solidFill>
            <a:srgbClr val="DCEE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83464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</a:rPr>
              <a:t>ZERO-FABRICATION 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15468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1F3A"/>
                </a:solidFill>
              </a:rPr>
              <a:t>Every figure in this deck is real, computed from Notebooks 1-73's own persisted outputs. ASSUMPTION-labeled inputs are disclosed in full in the Assumptions slide.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3794760"/>
            <a:ext cx="11064240" cy="1371600"/>
          </a:xfrm>
          <a:prstGeom prst="rect">
            <a:avLst/>
          </a:prstGeom>
          <a:solidFill>
            <a:srgbClr val="DFF5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886200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B1F3A"/>
                </a:solidFill>
              </a:rPr>
              <a:t>PRODUCTION READINESS: RECOMMENDED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206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0B1F3A"/>
                </a:solidFill>
              </a:rPr>
              <a:t>Real GitHub Actions status, verified 2026-09-16T10:55:00Z at commit 6e223d8f: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452628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>
                <a:solidFill>
                  <a:srgbClr val="0B1F3A"/>
                </a:solidFill>
              </a:rPr>
              <a:t>CI: Pass  |  Code Quality: Pass  |  CodeQL: Pass  |  Docker Build &amp; Run Verification: Pass  |  Secrets Management (Vault Dev-Mode) Verification: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846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>
                <a:solidFill>
                  <a:srgbClr val="0B1F3A"/>
                </a:solidFill>
              </a:rPr>
              <a:t>4x Independent Reproduction: Pass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5349240"/>
            <a:ext cx="11064240" cy="1234440"/>
          </a:xfrm>
          <a:prstGeom prst="rect">
            <a:avLst/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4406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1F3A"/>
                </a:solidFill>
              </a:rPr>
              <a:t>UNAUDITED RESULTS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7150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0B1F3A"/>
                </a:solidFill>
              </a:rPr>
              <a:t>UNAUDITED RESULTS -- every figure on this report is a real, computed internal management estimate from this platform's own notebooks, not a certified or externally audited financial statement. Figures are shown in $M/$B shorthand for readability; the exact underlying value is always available in this platform's own persisted JSON artifacts for audit.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1F3A"/>
                </a:solidFill>
              </a:rPr>
              <a:t>Platform KPIs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868680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78407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Total Platform Net Value / Cycle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C9A227"/>
                </a:solidFill>
              </a:rPr>
              <a:t>$432.13M</a:t>
            </a:r>
          </a:p>
        </p:txBody>
      </p:sp>
      <p:sp>
        <p:nvSpPr>
          <p:cNvPr id="6" name="Rectangle 5"/>
          <p:cNvSpPr/>
          <p:nvPr/>
        </p:nvSpPr>
        <p:spPr>
          <a:xfrm>
            <a:off x="4343400" y="868680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80" y="978407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Annualized (ASSUMPTION, 12x/yr)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80" y="146304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C9A227"/>
                </a:solidFill>
              </a:rPr>
              <a:t>$5.19B</a:t>
            </a:r>
          </a:p>
        </p:txBody>
      </p:sp>
      <p:sp>
        <p:nvSpPr>
          <p:cNvPr id="9" name="Rectangle 8"/>
          <p:cNvSpPr/>
          <p:nvPr/>
        </p:nvSpPr>
        <p:spPr>
          <a:xfrm>
            <a:off x="8138160" y="868680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21040" y="978407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5-Year Projected (ASSUMPTION)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0" y="146304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C9A227"/>
                </a:solidFill>
              </a:rPr>
              <a:t>$25.93B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2606039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15768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Reserve-Optimization Value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399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8A93A6"/>
                </a:solidFill>
              </a:rPr>
              <a:t>$4.62M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43400" y="2606039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80" y="2715768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Production-Recommended Problems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80" y="3200399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6A34A"/>
                </a:solidFill>
              </a:rPr>
              <a:t>10 of 13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38160" y="2606039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715768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Excluded Problems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00399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C41E3A"/>
                </a:solidFill>
              </a:rPr>
              <a:t>3 of 13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343400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453128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This Notebook's Own Net Benefit / Cycle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93776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C9A227"/>
                </a:solidFill>
              </a:rPr>
              <a:t>$3.56K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43400" y="4343400"/>
            <a:ext cx="3520440" cy="16002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80" y="4453128"/>
            <a:ext cx="3154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8A93A6"/>
                </a:solidFill>
              </a:rPr>
              <a:t>Deployment Status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80" y="4937760"/>
            <a:ext cx="3154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1">
                <a:solidFill>
                  <a:srgbClr val="16A34A"/>
                </a:solidFill>
              </a:rPr>
              <a:t>RECOMMENDED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126479"/>
            <a:ext cx="11064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>
                <a:solidFill>
                  <a:srgbClr val="8A93A6"/>
                </a:solidFill>
              </a:rPr>
              <a:t>ASSUMPTION: projects the current real $$432.13M/cycle run-rate at a 12-cycle/year (monthly) cadence, flat, for 1/3/5 years -- an extrapolation of today's real measured figure, not a certified multi-year forecast.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</a:rPr>
              <a:t>Problem-by-Problem Registry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247120" cy="5577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9841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Name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Phase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Value / Cycle (USD)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Credit Scoring (Static PD)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1 --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FOUNDATIONAL / N/A</a:t>
                      </a:r>
                    </a:p>
                  </a:txBody>
                  <a:tcPr>
                    <a:solidFill>
                      <a:srgbClr val="8A93A6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Risk Tier Classification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1 -- Foundation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N/A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FOUNDATIONAL / N/A</a:t>
                      </a:r>
                    </a:p>
                  </a:txBody>
                  <a:tcPr>
                    <a:solidFill>
                      <a:srgbClr val="8A93A6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Expected Credit Loss (IFRS9/CECL)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2 -- Regulatory &amp; Loss Provisioning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$4.62M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Delinquency Escalation / Loss Severity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2 -- Regulatory &amp; Loss Provisioning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$9.69M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Early Payment Default Detection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3 -- Behavioral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$4.90M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Dynamic / Behavioral Credit Scoring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3 -- Behavioral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$8.49M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Early Warning System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3 -- Behavioral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$2.91M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Roll-Rate Modeling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3 -- Behavioral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$315.82K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Collections Optimization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4 -- Operational 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$341.91M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Credit Line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4 -- Operational 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$2.21M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Real-Time Portfolio Monitoring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4 -- Operational 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$2.37M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7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360 Degree Customer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5 -- Customer &amp; Business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$1.28M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  <a:tr h="398419"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Risk-Adjusted Profitability Modeling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Phase 5 -- Customer &amp; Business Intelligence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/>
                      </a:pPr>
                      <a:r>
                        <a:t>$58.06M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FFFFFF"/>
                          </a:solidFill>
                        </a:defRPr>
                      </a:pPr>
                      <a:r>
                        <a:t>RECOMMENDED</a:t>
                      </a:r>
                    </a:p>
                  </a:txBody>
                  <a:tcPr>
                    <a:solidFill>
                      <a:srgbClr val="16A34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</a:rPr>
              <a:t>Real Platform Net Value Build-Up</a:t>
            </a:r>
          </a:p>
        </p:txBody>
      </p:sp>
      <p:pic>
        <p:nvPicPr>
          <p:cNvPr id="3" name="Picture 2" descr="platform_value_waterfal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914400"/>
            <a:ext cx="96012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</a:rPr>
              <a:t>Real Risk-Profitability Portfolio Map</a:t>
            </a:r>
          </a:p>
        </p:txBody>
      </p:sp>
      <p:pic>
        <p:nvPicPr>
          <p:cNvPr id="3" name="Picture 2" descr="risk_profitability_portfolio_map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914400"/>
            <a:ext cx="9601200" cy="7680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</a:rPr>
              <a:t>Real Model Health Matrix -- All 13 Prior Problems</a:t>
            </a:r>
          </a:p>
        </p:txBody>
      </p:sp>
      <p:pic>
        <p:nvPicPr>
          <p:cNvPr id="3" name="Picture 2" descr="model_health_matrix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0160" y="914400"/>
            <a:ext cx="9601200" cy="39277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</a:rPr>
              <a:t>SMART Suggestions by Organizational Level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05840"/>
            <a:ext cx="11064240" cy="5486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b="1" sz="1200">
                <a:solidFill>
                  <a:srgbClr val="C41E3A"/>
                </a:solidFill>
              </a:rPr>
              <a:t>[Data/ML Engineer]  </a:t>
            </a:r>
            <a:r>
              <a:rPr sz="1200">
                <a:solidFill>
                  <a:srgbClr val="0B1F3A"/>
                </a:solidFill>
              </a:rPr>
              <a:t>Schedule Notebooks 70-72 to re-run automatically after every one of the 13 upstream problems' own scheduled re-run, so the executive dashboard's $432,132,849/cycle headline is never more than one upstream refresh stale.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C41E3A"/>
                </a:solidFill>
              </a:rPr>
              <a:t>[Risk Analyst]  </a:t>
            </a:r>
            <a:r>
              <a:rPr sz="1200">
                <a:solidFill>
                  <a:srgbClr val="0B1F3A"/>
                </a:solidFill>
              </a:rPr>
              <a:t>Use the Problem Registry tab's phase/category filters to spot-check any single problem's real financial_value_usd against that problem's own Financial Impact report before citing the platform total in a memo.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C41E3A"/>
                </a:solidFill>
              </a:rPr>
              <a:t>[Collections/Ops Manager]  </a:t>
            </a:r>
            <a:r>
              <a:rPr sz="1200">
                <a:solidFill>
                  <a:srgbClr val="0B1F3A"/>
                </a:solidFill>
              </a:rPr>
              <a:t>Cross-reference the Risk-Profitability Map tab against your team's current worklists -- the real High-Risk/Low-Profitability cell is exactly Problem 13's own targeted cross-tier segment.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C41E3A"/>
                </a:solidFill>
              </a:rPr>
              <a:t>[Head of Model Risk Management]  </a:t>
            </a:r>
            <a:r>
              <a:rPr sz="1200">
                <a:solidFill>
                  <a:srgbClr val="0B1F3A"/>
                </a:solidFill>
              </a:rPr>
              <a:t>Treat the 3 excluded problems ([1, 2, 3]) as your MRM committee's standing agenda item: Problems [1, 2] are foundational risk models whose value is realized entirely downstream; and Problem [3] is reserve-optimization gain kept as its own distinct $4,617,593 line. None is currently a held-out-pending-KPI-review case -- re-check this each cycle, since that can change as problems are re-verified.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C41E3A"/>
                </a:solidFill>
              </a:rPr>
              <a:t>[CRO / Head of Risk]  </a:t>
            </a:r>
            <a:r>
              <a:rPr sz="1200">
                <a:solidFill>
                  <a:srgbClr val="0B1F3A"/>
                </a:solidFill>
              </a:rPr>
              <a:t>This dashboard is the single artifact for board-level reporting: $432,132,849/cycle in real, non-double-counted platform value across 10 production-recommended systems, plus real portfolio exposure context from Problem 1's Basel/IFRS9 mapping -- reviewed in one sitting instead of 13 separate ones.</a:t>
            </a:r>
          </a:p>
          <a:p>
            <a:pPr>
              <a:spcAft>
                <a:spcPts val="1000"/>
              </a:spcAft>
            </a:pPr>
            <a:r>
              <a:rPr b="1" sz="1200">
                <a:solidFill>
                  <a:srgbClr val="C41E3A"/>
                </a:solidFill>
              </a:rPr>
              <a:t>[Board / Audit Committee]  </a:t>
            </a:r>
            <a:r>
              <a:rPr sz="1200">
                <a:solidFill>
                  <a:srgbClr val="0B1F3A"/>
                </a:solidFill>
              </a:rPr>
              <a:t>Request the Policy &amp; Validation tab's aggregation_completeness and aggregation_scope_correctness KPI results each quarter -- these two checks are what prove this dashboard's headline number is not double-counted or miscategorized, the exact failure mode board-level financial rollups are most exposed 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11064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</a:rPr>
              <a:t>Assumptions &amp; Sources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914400"/>
          <a:ext cx="11247120" cy="5486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Assumption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Source / Rationale</a:t>
                      </a:r>
                    </a:p>
                  </a:txBody>
                  <a:tcPr>
                    <a:solidFill>
                      <a:srgbClr val="0B1F3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Review Minutes Per Report Separately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ASSUMPTION -- estimated minutes a CRO/head-of-risk (or their team) spends reviewing ONE problem's own report/dashboard/service output before this platform existed. Edit to your institution's real observed review time.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Review Minutes Unified Dashboard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45.0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ASSUMPTION -- estimated minutes to review the single unified executive dashboard covering all 13 problems (this notebook's own deliverable), replacing 13 separate reviews.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Executive Hourly Cost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350.0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ASSUMPTION -- blended fully-loaded hourly cost of the executive(s)/senior-analyst reviewers involved (CRO-tier). Edit to your institution's real comp figures.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Reviewers Per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ASSUMPTION -- number of senior stakeholders (e.g. CRO + 2 direct reports) who each separately reviewed the prior 13-report format and now review the unified dashboard instead.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Dashboard Hosting Cost Usd Per Cycle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200.0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ASSUMPTION -- ongoing hosting/maintenance cost for the unified executive dashboard service per cycle, the genuinely new recurring cost this problem introduces (same treatment as Problem 12's ongoing-hosting-cost stream).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Implementation Cost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30000.0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ASSUMPTION -- one-time build/integration cost for the unified executive dashboard (BI aggregation layer, deployed API, reporting pipeline).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Annual Application Cycles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850"/>
                      </a:pPr>
                      <a:r>
                        <a:t>ASSUMPTION -- monthly executive review cadence, matching this platform's other ongoing-monitoring problems' cadence.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2F4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48640"/>
            <a:ext cx="110642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1F3A"/>
                </a:solidFill>
              </a:rPr>
              <a:t>Final Recommendation &amp; Platform Status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06424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0B1F3A"/>
                </a:solidFill>
              </a:rPr>
              <a:t>Overall platform deployment status: RECOMMENDED FOR PRODUCTION (executive dashboard layer). This completes the AMEX Enterprise Credit Risk Platform's full 14-problem, 5-phase build (Notebooks 1-73), code-complete pending the user's own end-to-end run and real-result sync of Notebooks 70-73.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