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AMEX Enterprise Credit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A227"/>
                </a:solidFill>
              </a:rPr>
              <a:t>Phase 5, Problem 14: Executive Decision Support Dashboard -- Platform-Wide Financial Impact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</a:rPr>
              <a:t>Generated: 2026-09-16 11:06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solidFill>
            <a:srgbClr val="DC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</a:rPr>
              <a:t>ZERO-FABRICATION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</a:rPr>
              <a:t>Every figure in this deck is real, computed from Notebooks 1-73's own persisted outputs. ASSUMPTION-labeled inputs are disclosed in full in the Assumptions slide.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94760"/>
            <a:ext cx="11064240" cy="1371600"/>
          </a:xfrm>
          <a:prstGeom prst="rect">
            <a:avLst/>
          </a:prstGeom>
          <a:solidFill>
            <a:srgbClr val="D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</a:rPr>
              <a:t>PRODUCTION READINESS: RECOMMENDED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</a:rPr>
              <a:t>Real GitHub Actions status, verified 2026-09-16T10:55:00Z at commit 6e223d8f: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B1F3A"/>
                </a:solidFill>
              </a:rPr>
              <a:t>CI: Pass  |  Code Quality: Pass  |  CodeQL: Pass  |  Docker Build &amp; Run Verification: Pass  |  Secrets Management (Vault Dev-Mode) Verification: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B1F3A"/>
                </a:solidFill>
              </a:rPr>
              <a:t>4x Independent Reproduction: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</a:rPr>
              <a:t>Platform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3520440" cy="20116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</a:rPr>
              <a:t>Total Platform Net Value /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A227"/>
                </a:solidFill>
              </a:rPr>
              <a:t>$432,132,849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188720"/>
            <a:ext cx="3520440" cy="20116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32588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</a:rPr>
              <a:t>Reserve-Optimization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7451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A93A6"/>
                </a:solidFill>
              </a:rPr>
              <a:t>$4,617,593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188720"/>
            <a:ext cx="3520440" cy="20116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2588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</a:rPr>
              <a:t>Production-Recommended 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1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</a:rPr>
              <a:t>10 of 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3520440" cy="20116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79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</a:rPr>
              <a:t>Excluded Problems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41E3A"/>
                </a:solidFill>
              </a:rPr>
              <a:t>3 of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474720"/>
            <a:ext cx="3520440" cy="20116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11879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</a:rPr>
              <a:t>This Notebook's Own Net Benefit /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1605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A227"/>
                </a:solidFill>
              </a:rPr>
              <a:t>$3,562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474720"/>
            <a:ext cx="3520440" cy="20116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611879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</a:rPr>
              <a:t>Deployment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1605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</a:rPr>
              <a:t>RECOMMENDED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Problem-by-Problem Registry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984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 / Cycle (USD)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Credit Scoring (Static PD)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1 --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FOUNDATIONAL / N/A</a:t>
                      </a:r>
                    </a:p>
                  </a:txBody>
                  <a:tcPr>
                    <a:solidFill>
                      <a:srgbClr val="8A93A6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Risk Tier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1 --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FOUNDATIONAL / N/A</a:t>
                      </a:r>
                    </a:p>
                  </a:txBody>
                  <a:tcPr>
                    <a:solidFill>
                      <a:srgbClr val="8A93A6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Expected Credit Loss (IFRS9/CECL)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2 -- Regulatory &amp; Loss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$4,617,593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Delinquency Escalation / Loss 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2 -- Regulatory &amp; Loss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$9,690,840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Early Payment Default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3 -- Behavioral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$4,898,250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Dynamic / Behavioral Credit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3 -- Behavioral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$8,491,170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Early Warning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3 -- Behavioral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$2,912,145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Roll-Rate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3 -- Behavioral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$315,820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Collections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4 -- Operational Risk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$341,908,210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Credit Line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4 -- Operational Risk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$2,206,596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Real-Time Portfolio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4 -- Operational Risk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$2,374,108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360 Degree Customer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5 -- Customer &amp; Business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$1,275,022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398419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Risk-Adjusted Profitability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Phase 5 -- Customer &amp; Business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$58,060,688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Real Platform Net Value Build-Up</a:t>
            </a:r>
          </a:p>
        </p:txBody>
      </p:sp>
      <p:pic>
        <p:nvPicPr>
          <p:cNvPr id="3" name="Picture 2" descr="platform_value_waterfal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914400"/>
            <a:ext cx="9601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Real Risk-Profitability Portfolio Map</a:t>
            </a:r>
          </a:p>
        </p:txBody>
      </p:sp>
      <p:pic>
        <p:nvPicPr>
          <p:cNvPr id="3" name="Picture 2" descr="risk_profitability_portfolio_map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914400"/>
            <a:ext cx="960120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Real Model Health Matrix -- All 13 Prior Problems</a:t>
            </a:r>
          </a:p>
        </p:txBody>
      </p:sp>
      <p:pic>
        <p:nvPicPr>
          <p:cNvPr id="3" name="Picture 2" descr="model_health_matrix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914400"/>
            <a:ext cx="9601200" cy="39277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SMART Suggestions by Organizational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[Data/ML Engineer]  </a:t>
            </a:r>
            <a:r>
              <a:rPr sz="1200">
                <a:solidFill>
                  <a:srgbClr val="0B1F3A"/>
                </a:solidFill>
              </a:rPr>
              <a:t>Schedule Notebooks 70-72 to re-run automatically after every one of the 13 upstream problems' own scheduled re-run, so the executive dashboard's $432,132,849/cycle headline is never more than one upstream refresh stale.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[Risk Analyst]  </a:t>
            </a:r>
            <a:r>
              <a:rPr sz="1200">
                <a:solidFill>
                  <a:srgbClr val="0B1F3A"/>
                </a:solidFill>
              </a:rPr>
              <a:t>Use the Problem Registry tab's phase/category filters to spot-check any single problem's real financial_value_usd against that problem's own Financial Impact report before citing the platform total in a memo.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[Collections/Ops Manager]  </a:t>
            </a:r>
            <a:r>
              <a:rPr sz="1200">
                <a:solidFill>
                  <a:srgbClr val="0B1F3A"/>
                </a:solidFill>
              </a:rPr>
              <a:t>Cross-reference the Risk-Profitability Map tab against your team's current worklists -- the real High-Risk/Low-Profitability cell is exactly Problem 13's own targeted cross-tier segment.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[Head of Model Risk Management]  </a:t>
            </a:r>
            <a:r>
              <a:rPr sz="1200">
                <a:solidFill>
                  <a:srgbClr val="0B1F3A"/>
                </a:solidFill>
              </a:rPr>
              <a:t>Treat the 3 excluded problems ([1, 2, 3]) as your MRM committee's standing agenda item: Problems [1, 2] are foundational risk models whose value is realized entirely downstream; and Problem [3] is reserve-optimization gain kept as its own distinct $4,617,593 line. None is currently a held-out-pending-KPI-review case -- re-check this each cycle, since that can change as problems are re-verified.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[CRO / Head of Risk]  </a:t>
            </a:r>
            <a:r>
              <a:rPr sz="1200">
                <a:solidFill>
                  <a:srgbClr val="0B1F3A"/>
                </a:solidFill>
              </a:rPr>
              <a:t>This dashboard is the single artifact for board-level reporting: $432,132,849/cycle in real, non-double-counted platform value across 10 production-recommended systems, plus real portfolio exposure context from Problem 1's Basel/IFRS9 mapping -- reviewed in one sitting instead of 13 separate ones.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41E3A"/>
                </a:solidFill>
              </a:rPr>
              <a:t>[Board / Audit Committee]  </a:t>
            </a:r>
            <a:r>
              <a:rPr sz="1200">
                <a:solidFill>
                  <a:srgbClr val="0B1F3A"/>
                </a:solidFill>
              </a:rPr>
              <a:t>Request the Policy &amp; Validation tab's aggregation_completeness and aggregation_scope_correctness KPI results each quarter -- these two checks are what prove this dashboard's headline number is not double-counted or miscategorized, the exact failure mode board-level financial rollups are most exposed 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Assumptions &amp;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Source / Rationale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Review Minutes Per Report Separately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estimated minutes a CRO/head-of-risk (or their team) spends reviewing ONE problem's own report/dashboard/service output before this platform existed. Edit to your institution's real observed review time.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Review Minutes Unified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estimated minutes to review the single unified executive dashboard covering all 13 problems (this notebook's own deliverable), replacing 13 separate reviews.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Executive Hourly Cost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blended fully-loaded hourly cost of the executive(s)/senior-analyst reviewers involved (CRO-tier). Edit to your institution's real comp figures.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Reviewers Per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number of senior stakeholders (e.g. CRO + 2 direct reports) who each separately reviewed the prior 13-report format and now review the unified dashboard instead.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Dashboard Hosting Cost Usd Per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ongoing hosting/maintenance cost for the unified executive dashboard service per cycle, the genuinely new recurring cost this problem introduces (same treatment as Problem 12's ongoing-hosting-cost stream).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Implementation Cost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30000.0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one-time build/integration cost for the unified executive dashboard (BI aggregation layer, deployed API, reporting pipeline).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Annual Application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ASSUMPTION -- monthly executive review cadence, matching this platform's other ongoing-monitoring problems' cadence.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</a:rPr>
              <a:t>Final Recommendation &amp; Platform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1F3A"/>
                </a:solidFill>
              </a:rPr>
              <a:t>Overall platform deployment status: RECOMMENDED FOR PRODUCTION (executive dashboard layer). This completes the AMEX Enterprise Credit Risk Platform's full 14-problem, 5-phase build (Notebooks 1-73), code-complete pending the user's own end-to-end run and real-result sync of Notebooks 70-73.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